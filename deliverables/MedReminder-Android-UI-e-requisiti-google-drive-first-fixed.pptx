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026b99c9d4314" /><Relationship Type="http://schemas.openxmlformats.org/officeDocument/2006/relationships/extended-properties" Target="/docProps/app.xml" Id="R52cd48023de2475e" /><Relationship Type="http://schemas.openxmlformats.org/officeDocument/2006/relationships/officeDocument" Target="/ppt/presentation.xml" Id="Ra4c46b8926a248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578df13db4e22"/>
  </p:sldMasterIdLst>
  <p:notesMasterIdLst>
    <p:notesMasterId xmlns:r="http://schemas.openxmlformats.org/officeDocument/2006/relationships" r:id="R4e43bf9d7c164562"/>
  </p:notesMasterIdLst>
  <p:sldIdLst>
    <p:sldId xmlns:r="http://schemas.openxmlformats.org/officeDocument/2006/relationships" id="256" r:id="Rea4c79d254884b80"/>
    <p:sldId xmlns:r="http://schemas.openxmlformats.org/officeDocument/2006/relationships" id="257" r:id="R26e7ceefdbf64027"/>
    <p:sldId xmlns:r="http://schemas.openxmlformats.org/officeDocument/2006/relationships" id="258" r:id="Rb7ec0018a0114985"/>
    <p:sldId xmlns:r="http://schemas.openxmlformats.org/officeDocument/2006/relationships" id="259" r:id="R422f392bb58b4162"/>
    <p:sldId xmlns:r="http://schemas.openxmlformats.org/officeDocument/2006/relationships" id="260" r:id="R56feac5d7aac4100"/>
    <p:sldId xmlns:r="http://schemas.openxmlformats.org/officeDocument/2006/relationships" id="261" r:id="R21a07c7e35214823"/>
    <p:sldId xmlns:r="http://schemas.openxmlformats.org/officeDocument/2006/relationships" id="262" r:id="R5a05fe4256c24621"/>
    <p:sldId xmlns:r="http://schemas.openxmlformats.org/officeDocument/2006/relationships" id="263" r:id="Rc7e7f220aadc454d"/>
    <p:sldId xmlns:r="http://schemas.openxmlformats.org/officeDocument/2006/relationships" id="264" r:id="R195662bb95734bbb"/>
    <p:sldId xmlns:r="http://schemas.openxmlformats.org/officeDocument/2006/relationships" id="265" r:id="R1f97ab0df9ec40c9"/>
    <p:sldId xmlns:r="http://schemas.openxmlformats.org/officeDocument/2006/relationships" id="266" r:id="Rb63492a2eb624f2c"/>
    <p:sldId xmlns:r="http://schemas.openxmlformats.org/officeDocument/2006/relationships" id="267" r:id="Rc059302fe262438b"/>
    <p:sldId xmlns:r="http://schemas.openxmlformats.org/officeDocument/2006/relationships" id="268" r:id="Ra8b5113385f045b4"/>
    <p:sldId xmlns:r="http://schemas.openxmlformats.org/officeDocument/2006/relationships" id="269" r:id="Rba536da8fd0a4431"/>
    <p:sldId xmlns:r="http://schemas.openxmlformats.org/officeDocument/2006/relationships" id="270" r:id="Rf2c4f796096d4a99"/>
    <p:sldId xmlns:r="http://schemas.openxmlformats.org/officeDocument/2006/relationships" id="271" r:id="R905fb2003afd4428"/>
    <p:sldId xmlns:r="http://schemas.openxmlformats.org/officeDocument/2006/relationships" id="272" r:id="R261bb046bd2442ce"/>
    <p:sldId xmlns:r="http://schemas.openxmlformats.org/officeDocument/2006/relationships" id="273" r:id="R8a498991ffe1403c"/>
    <p:sldId xmlns:r="http://schemas.openxmlformats.org/officeDocument/2006/relationships" id="274" r:id="R9fdbc59f558f47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d4b8c7dc41449d" /><Relationship Type="http://schemas.openxmlformats.org/officeDocument/2006/relationships/slideMaster" Target="/ppt/slideMasters/slideMaster1.xml" Id="R053578df13db4e22" /><Relationship Type="http://schemas.openxmlformats.org/officeDocument/2006/relationships/notesMaster" Target="/ppt/notesMasters/notesMaster1.xml" Id="R4e43bf9d7c164562" /><Relationship Type="http://schemas.openxmlformats.org/officeDocument/2006/relationships/presProps" Target="/ppt/presProps.xml" Id="Rc424d0b59ca54710" /><Relationship Type="http://schemas.openxmlformats.org/officeDocument/2006/relationships/tableStyles" Target="/ppt/tableStyles.xml" Id="R98596dc5931e4dfa" /><Relationship Type="http://schemas.openxmlformats.org/officeDocument/2006/relationships/slide" Target="/ppt/slides/slide1.xml" Id="Rea4c79d254884b80" /><Relationship Type="http://schemas.openxmlformats.org/officeDocument/2006/relationships/slide" Target="/ppt/slides/slide2.xml" Id="R26e7ceefdbf64027" /><Relationship Type="http://schemas.openxmlformats.org/officeDocument/2006/relationships/slide" Target="/ppt/slides/slide3.xml" Id="Rb7ec0018a0114985" /><Relationship Type="http://schemas.openxmlformats.org/officeDocument/2006/relationships/slide" Target="/ppt/slides/slide4.xml" Id="R422f392bb58b4162" /><Relationship Type="http://schemas.openxmlformats.org/officeDocument/2006/relationships/slide" Target="/ppt/slides/slide5.xml" Id="R56feac5d7aac4100" /><Relationship Type="http://schemas.openxmlformats.org/officeDocument/2006/relationships/slide" Target="/ppt/slides/slide6.xml" Id="R21a07c7e35214823" /><Relationship Type="http://schemas.openxmlformats.org/officeDocument/2006/relationships/slide" Target="/ppt/slides/slide7.xml" Id="R5a05fe4256c24621" /><Relationship Type="http://schemas.openxmlformats.org/officeDocument/2006/relationships/slide" Target="/ppt/slides/slide8.xml" Id="Rc7e7f220aadc454d" /><Relationship Type="http://schemas.openxmlformats.org/officeDocument/2006/relationships/slide" Target="/ppt/slides/slide9.xml" Id="R195662bb95734bbb" /><Relationship Type="http://schemas.openxmlformats.org/officeDocument/2006/relationships/slide" Target="/ppt/slides/slide10.xml" Id="R1f97ab0df9ec40c9" /><Relationship Type="http://schemas.openxmlformats.org/officeDocument/2006/relationships/slide" Target="/ppt/slides/slide11.xml" Id="Rb63492a2eb624f2c" /><Relationship Type="http://schemas.openxmlformats.org/officeDocument/2006/relationships/slide" Target="/ppt/slides/slide12.xml" Id="Rc059302fe262438b" /><Relationship Type="http://schemas.openxmlformats.org/officeDocument/2006/relationships/slide" Target="/ppt/slides/slide13.xml" Id="Ra8b5113385f045b4" /><Relationship Type="http://schemas.openxmlformats.org/officeDocument/2006/relationships/slide" Target="/ppt/slides/slide14.xml" Id="Rba536da8fd0a4431" /><Relationship Type="http://schemas.openxmlformats.org/officeDocument/2006/relationships/slide" Target="/ppt/slides/slide15.xml" Id="Rf2c4f796096d4a99" /><Relationship Type="http://schemas.openxmlformats.org/officeDocument/2006/relationships/slide" Target="/ppt/slides/slide16.xml" Id="R905fb2003afd4428" /><Relationship Type="http://schemas.openxmlformats.org/officeDocument/2006/relationships/slide" Target="/ppt/slides/slide17.xml" Id="R261bb046bd2442ce" /><Relationship Type="http://schemas.openxmlformats.org/officeDocument/2006/relationships/slide" Target="/ppt/slides/slide18.xml" Id="R8a498991ffe1403c" /><Relationship Type="http://schemas.openxmlformats.org/officeDocument/2006/relationships/slide" Target="/ppt/slides/slide19.xml" Id="R9fdbc59f558f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ca30f932e34c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6a404c961486b" /><Relationship Type="http://schemas.openxmlformats.org/officeDocument/2006/relationships/notesMaster" Target="/ppt/notesMasters/notesMaster1.xml" Id="R42c7416dd11346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756dc2b2345a1" /><Relationship Type="http://schemas.openxmlformats.org/officeDocument/2006/relationships/notesMaster" Target="/ppt/notesMasters/notesMaster1.xml" Id="R05c8a17c8193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918f2f6d84ec9" /><Relationship Type="http://schemas.openxmlformats.org/officeDocument/2006/relationships/notesMaster" Target="/ppt/notesMasters/notesMaster1.xml" Id="Rcbb2dc3c215246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f42fbee094fe2" /><Relationship Type="http://schemas.openxmlformats.org/officeDocument/2006/relationships/notesMaster" Target="/ppt/notesMasters/notesMaster1.xml" Id="R7009a455f6f2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ccedad28e4c0b" /><Relationship Type="http://schemas.openxmlformats.org/officeDocument/2006/relationships/notesMaster" Target="/ppt/notesMasters/notesMaster1.xml" Id="R41147c90c939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0b7b0d0b641b4" /><Relationship Type="http://schemas.openxmlformats.org/officeDocument/2006/relationships/notesMaster" Target="/ppt/notesMasters/notesMaster1.xml" Id="Raff7c07d6418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7401d53794952" /><Relationship Type="http://schemas.openxmlformats.org/officeDocument/2006/relationships/notesMaster" Target="/ppt/notesMasters/notesMaster1.xml" Id="R298e1a25d3d74a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11414a72124818" /><Relationship Type="http://schemas.openxmlformats.org/officeDocument/2006/relationships/notesMaster" Target="/ppt/notesMasters/notesMaster1.xml" Id="R378b2e259f7d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73cf961d8b4296" /><Relationship Type="http://schemas.openxmlformats.org/officeDocument/2006/relationships/notesMaster" Target="/ppt/notesMasters/notesMaster1.xml" Id="R9f927456a2ac4c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0a998809de45ed" /><Relationship Type="http://schemas.openxmlformats.org/officeDocument/2006/relationships/notesMaster" Target="/ppt/notesMasters/notesMaster1.xml" Id="R03bce69e12844f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2b0d9e90042c1" /><Relationship Type="http://schemas.openxmlformats.org/officeDocument/2006/relationships/notesMaster" Target="/ppt/notesMasters/notesMaster1.xml" Id="R6aac9540f212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771b4cecc840ea" /><Relationship Type="http://schemas.openxmlformats.org/officeDocument/2006/relationships/notesMaster" Target="/ppt/notesMasters/notesMaster1.xml" Id="Rd0af4d8fa3aa47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6d3401b0564791" /><Relationship Type="http://schemas.openxmlformats.org/officeDocument/2006/relationships/notesMaster" Target="/ppt/notesMasters/notesMaster1.xml" Id="R53c30c336ed04f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5a3450d4cd45c2" /><Relationship Type="http://schemas.openxmlformats.org/officeDocument/2006/relationships/notesMaster" Target="/ppt/notesMasters/notesMaster1.xml" Id="Rf47b39838a2945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fb83fd4f99432e" /><Relationship Type="http://schemas.openxmlformats.org/officeDocument/2006/relationships/notesMaster" Target="/ppt/notesMasters/notesMaster1.xml" Id="R25346d8007dd46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2814c2c535409c" /><Relationship Type="http://schemas.openxmlformats.org/officeDocument/2006/relationships/notesMaster" Target="/ppt/notesMasters/notesMaster1.xml" Id="R017c4df6d74b4e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bdf2b9f1804912" /><Relationship Type="http://schemas.openxmlformats.org/officeDocument/2006/relationships/notesMaster" Target="/ppt/notesMasters/notesMaster1.xml" Id="R06f197d226c642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c73f1475934ccc" /><Relationship Type="http://schemas.openxmlformats.org/officeDocument/2006/relationships/notesMaster" Target="/ppt/notesMasters/notesMaster1.xml" Id="R8a3743a34cd140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0fe7b5bbd9482f" /><Relationship Type="http://schemas.openxmlformats.org/officeDocument/2006/relationships/notesMaster" Target="/ppt/notesMasters/notesMaster1.xml" Id="R10c839c779ed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Direzione scelta dal product owner: panoramica come schermata iniziale. Il mini schermo è un mockup illustrativo, non una schermata già implementata. Fonte prodotto: docs/analysis/ANALYSIS-B1-MOBILE-SYNC.md §§9,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README definisce MedReminder come promemoria organizzativo e non dispositivo medico. L’obiettivo mobile e il modello offline-first/senza backend provengono da ANALYSIS-B1-MOBILE-SYNC.md §§1–3.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 derivati dalle funzioni descritte in README.md e dalla lista schermi/feature parity in ANALYSIS-B1-MOBILE-SYNC.md §§9–10.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principi sintetizzano l’obiettivo della schermata mobile e i vincoli “not a medical device”, offline-first, status sync. Nessun punteggio di aderenza o indicazione clinica è incluso nel piano (§1.3).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del progetto: docs/mockups/android-ui-proposals.svg. La direzione 01 è stata indicata dall’utente come base. Le schermate 02 e 03 restano esplorazioni alternative per le sezioni interne.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schermate elencate nel documento B.1 sono l’end state, non una specifica della barra di navigazione. Quattro destinazioni sono una proposta UX da validare; timeline dettagliata e read-only resta Phase 7 secondo §10.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blocchi 1, 3 e 4 sono proposti sulla base del mockup e del requisito desktop che la schermata risponda a “what needs attention today” (ANALYSIS-UI-MODERNIZATION.md §1) e dei campi medicine list in B1 §10.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flussi rappresentano interazioni proposte. La schermata conflict review con restore/dismiss è presente nel piano Phase 3d desktop e la mobile ha conflitti to review in B1 §9; i verbi e la conferma sono requisiti UX proposti.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Campi e azioni derivano da README.md (medicine, stock, regimens, suspensions, intakes) e B1 §§9.1 e 10. I valori “days left”/run-out date e status sono requisiti già presenti sul desktop.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Sequenza e contenuti distinti da ANALYSIS-B1-MOBILE-SYNC.md §§9.1, 10, 13; il documento identifica una fase Android full client e una fase 7 di completamento.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Requisiti offline-first/no silent overwrite in B1 §§1, 3; background sync può essere infrequente (§12), perciò sync status sempre visibile. Stati di presentazione UX proposti.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Comportamento tecnico e limiti Android da B1 §8. La preferenza D4 (dosi su telefono, low-stock ovunque) è proposta ma ancora aperta in §16; non rappresentarla come requisito approvato.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nel brief B1 §9.1: system font scaling, screen-reader labels, no color alone. I dettagli su target touch/focus/contrasto sono requisiti di implementazione proposti da validare contro la policy accessibilità scelta.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 proposti derivati dal funzionamento offline, provider auth, conflict review e notice permission in B1. Testi descrittivi, nessuna promessa di background sync deterministico.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Requisiti di prodotto proposti e criteri di accettazione iniziali. I vincoli di architettura e i casi d’uso provengono da B1 §§7.2, 9–11.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Vincoli espliciti dal documento B1 §§7.2, 8, 9.2–9.3, 12–13; D13 resta una proposta inferita (API 26) da §16.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Criteri sintetizzati dai criteri di uscita Phase 5 in B1 §13 e test manuali in §11. Checklist proposta per rendere l’accettazione osservabile.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Decisioni aggiornate da ANALYSIS-B1-MOBILE-SYNC.md §16; D11, D13 proposti; D12 iCloud escluso come decisione. La timeline tecnica deriva dalle fasi 0–5 in §13.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Chiusura. La proposta copre definizione UX e requisiti, non modifica l’app e non costituisce ancora piano di stima dettagliato.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173bb0e6b40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a3b5b6591148cf" /><Relationship Type="http://schemas.openxmlformats.org/officeDocument/2006/relationships/slideLayout" Target="/ppt/slideLayouts/slideLayout1.xml" Id="R38ca2a286abd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ca2a286abd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708d0cbef458d" /><Relationship Type="http://schemas.openxmlformats.org/officeDocument/2006/relationships/notesSlide" Target="/ppt/notesSlides/notesSlide1.xml" Id="R3e00e08b4ab8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c427153c448b" /><Relationship Type="http://schemas.openxmlformats.org/officeDocument/2006/relationships/notesSlide" Target="/ppt/notesSlides/notesSlide2.xml" Id="R772b39aa370f48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9af5736a94cc2" /><Relationship Type="http://schemas.openxmlformats.org/officeDocument/2006/relationships/notesSlide" Target="/ppt/notesSlides/notesSlide3.xml" Id="R0495e6a736b147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8da6622864523" /><Relationship Type="http://schemas.openxmlformats.org/officeDocument/2006/relationships/notesSlide" Target="/ppt/notesSlides/notesSlide4.xml" Id="R384e4e3f7f9e4d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e65e0fa274cc4" /><Relationship Type="http://schemas.openxmlformats.org/officeDocument/2006/relationships/image" Target="/ppt/media/image.png" Id="Rdc155a5e4b1e45aa" /><Relationship Type="http://schemas.openxmlformats.org/officeDocument/2006/relationships/image" Target="/ppt/media/image.svg" Id="R0e60ba26492e4a66" /><Relationship Type="http://schemas.openxmlformats.org/officeDocument/2006/relationships/notesSlide" Target="/ppt/notesSlides/notesSlide5.xml" Id="R2ff8f3471982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78439cc7840fe" /><Relationship Type="http://schemas.openxmlformats.org/officeDocument/2006/relationships/notesSlide" Target="/ppt/notesSlides/notesSlide6.xml" Id="Rc6b9dbf6e7fd4d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c393900c24ff5" /><Relationship Type="http://schemas.openxmlformats.org/officeDocument/2006/relationships/notesSlide" Target="/ppt/notesSlides/notesSlide7.xml" Id="R65e0aab7994144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ace6866a040c5" /><Relationship Type="http://schemas.openxmlformats.org/officeDocument/2006/relationships/notesSlide" Target="/ppt/notesSlides/notesSlide8.xml" Id="R49fd4c17650949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d2d0405004d91" /><Relationship Type="http://schemas.openxmlformats.org/officeDocument/2006/relationships/notesSlide" Target="/ppt/notesSlides/notesSlide9.xml" Id="Reabcf91a917c4d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bf636a4924ef3" /><Relationship Type="http://schemas.openxmlformats.org/officeDocument/2006/relationships/notesSlide" Target="/ppt/notesSlides/notesSlide10.xml" Id="Re79d9b07a4aa4b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87ae1888c40d6" /><Relationship Type="http://schemas.openxmlformats.org/officeDocument/2006/relationships/notesSlide" Target="/ppt/notesSlides/notesSlide11.xml" Id="Rd9a7d81740404c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a7308b444686" /><Relationship Type="http://schemas.openxmlformats.org/officeDocument/2006/relationships/notesSlide" Target="/ppt/notesSlides/notesSlide12.xml" Id="Rbcd35c816a3844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21d408c914226" /><Relationship Type="http://schemas.openxmlformats.org/officeDocument/2006/relationships/notesSlide" Target="/ppt/notesSlides/notesSlide13.xml" Id="R4dc2a62983fa49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09d38631443ac" /><Relationship Type="http://schemas.openxmlformats.org/officeDocument/2006/relationships/notesSlide" Target="/ppt/notesSlides/notesSlide14.xml" Id="R6fdbdfcfc10441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424159b5e4548" /><Relationship Type="http://schemas.openxmlformats.org/officeDocument/2006/relationships/notesSlide" Target="/ppt/notesSlides/notesSlide15.xml" Id="R9611e787b12e44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e8c7f6ff8405a" /><Relationship Type="http://schemas.openxmlformats.org/officeDocument/2006/relationships/notesSlide" Target="/ppt/notesSlides/notesSlide16.xml" Id="R85a089b9260448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19f856c74bd0" /><Relationship Type="http://schemas.openxmlformats.org/officeDocument/2006/relationships/notesSlide" Target="/ppt/notesSlides/notesSlide17.xml" Id="R83fb402d37424e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2de31202f41ae" /><Relationship Type="http://schemas.openxmlformats.org/officeDocument/2006/relationships/notesSlide" Target="/ppt/notesSlides/notesSlide18.xml" Id="R908a6538517a46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0427d02994fb9" /><Relationship Type="http://schemas.openxmlformats.org/officeDocument/2006/relationships/notesSlide" Target="/ppt/notesSlides/notesSlide19.xml" Id="R1beec57fc6634d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16EF9-37BA-4F8B-8F73-F773394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495C5-E6DB-422B-84BF-42487497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14375"/>
            <a:ext cx="2952750" cy="5429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E46C0-7015-419F-87E6-F4F50AB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4900"/>
            <a:ext cx="2381250" cy="47434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950E3-FF15-441F-93C6-34F04612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9:41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4F72A-30AA-4318-8184-D722ADDA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Buongiorno, Anna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1EF2D-19ED-4771-87E2-382EC126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145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Ecco cosa richiede attenzione oggi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022C0-4D4D-47F8-B6AA-90D122DD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33625"/>
            <a:ext cx="21145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BE2AD-99D8-45B9-B291-738A44E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8602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1E02A-FEE9-4DBA-90CD-DBC10E8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Tutto sotto controllo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6914E-DB9D-42AF-BA93-2D4F282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2 promemoria · 1 scorta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B7694-705E-49EB-8B9F-010EEC4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Prossimo promemoria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10CAD-4931-4B0C-965F-EA5D2F12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21145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BC3AD-54CC-47F4-903D-4A92933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433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08:30 · Vitamina 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ECE8C-4DA5-44BB-AC2C-D3246E82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719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1 capsula · colazione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9C973-5190-4D07-842B-D14FA1FE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386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Da tenere d’occhio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02A2A-BE25-4A74-80A2-311E8263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24400"/>
            <a:ext cx="211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8C547-B42B-48E4-8800-7A516EA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29175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Amlodipina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2C90F-971F-4A2A-A263-475EF88F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95B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95B22"/>
                </a:solidFill>
                <a:latin typeface="Arial"/>
                <a:ea typeface="Arial"/>
                <a:cs typeface="Arial"/>
              </a:rPr>
              <a:t>Scorta per circa 5 giorni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7A95E-ABBA-4C46-AB6B-824E2E22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7212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⌂ Oggi       Terapie       Altro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5924F-FC02-4B73-9DEB-3493A8E6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6D0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D0BE"/>
                </a:solidFill>
                <a:latin typeface="Arial"/>
                <a:ea typeface="Arial"/>
                <a:cs typeface="Arial"/>
              </a:rPr>
              <a:t>MEDREMINDER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600A1-30C9-4953-82B7-C54B0742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L’interfaccia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081B7-7545-422D-AF4B-2F2F8379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E2EE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EE8"/>
                </a:solidFill>
                <a:latin typeface="Arial"/>
                <a:ea typeface="Arial"/>
                <a:cs typeface="Arial"/>
              </a:rPr>
              <a:t>Proposta di esperienza e requisiti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2EE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EE8"/>
                </a:solidFill>
                <a:latin typeface="Arial"/>
                <a:ea typeface="Arial"/>
                <a:cs typeface="Arial"/>
              </a:rPr>
              <a:t>per l’implementazione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614E2-E686-4FB4-AA99-0F2ED8A4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09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AF03C-A577-40A1-9274-A62FC427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Direzione scelta: panoramica della giornata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6903B-EE9B-4E93-B231-E8B21494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8CE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EC4"/>
                </a:solidFill>
                <a:latin typeface="Arial"/>
                <a:ea typeface="Arial"/>
                <a:cs typeface="Arial"/>
              </a:rPr>
              <a:t>Ottobre 2026 · documento di definizione</a:t>
            </a:r>
          </a:p>
        </p:txBody>
      </p:sp>
    </p:spTree>
    <p:extLst>
      <p:ext uri="{BB962C8B-B14F-4D97-AF65-F5344CB8AC3E}">
        <p14:creationId xmlns:p14="http://schemas.microsoft.com/office/powerpoint/2010/main" val="40550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F4179-FB6A-4593-8CB7-1C27463B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01 · OBIETTIVO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8814-96ED-453B-88B7-F50D0340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Il telefono deve rispondere a una domanda semplice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2EF77-650E-458E-8EF3-4182C5A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“Cosa devo controllare o fare oggi?” deve essere chiaro appena si apre l’app.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C8FE2-C4A6-4131-B4A3-BACF43B7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D8EFE-8830-47F7-9603-CAB4EFF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7ADEE-3E88-4E66-9A3F-6DC27037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A066-AA6A-4844-BA7B-8C340FE8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23D49-06BC-4724-B68B-0637E605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24765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7648D-50FD-4F89-A852-B1AFF5A9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Il bisogno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31A2A-8721-41A0-839D-B01BAE96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876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Consultare terapie e scorte fuori casa, registrare un’azione e ritrovare gli stessi dati sul desktop.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F3336-3933-467F-8F78-EDD7909B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DF2CB-932F-4CC8-AD29-C245FB7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66675" cy="24765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3D03F-16E4-4B79-BAF9-DBD9074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La promessa 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A41AF-8247-45E3-950C-A33F47F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33650"/>
            <a:ext cx="2876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Un riepilogo quotidiano comprensibile, aggiornato e sincero sullo stato della sincronizzazione.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CA608-47E0-41BF-BA76-CB194FEA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10A3A-E895-41C7-9A63-0E23A0B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66675" cy="24765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EF29F-038A-4F26-A220-9FDEB3F6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Il confine del prodotto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B8114-963B-4A98-9296-1183C90E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876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MedReminder organizza dati e promemoria. Non formula diagnosi, non suggerisce modifiche alla terapia.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42E10-4064-43E7-986F-79C6FE32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C1E7C-8670-45E3-A8F8-1D528EA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Client Android completo · uso offline · sincronizzazione cifrata con il desktop</a:t>
            </a:r>
          </a:p>
        </p:txBody>
      </p:sp>
    </p:spTree>
    <p:extLst>
      <p:ext uri="{BB962C8B-B14F-4D97-AF65-F5344CB8AC3E}">
        <p14:creationId xmlns:p14="http://schemas.microsoft.com/office/powerpoint/2010/main" val="102079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A8CB6-52C9-4FDB-B688-95B870C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02 · SCENARI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558EC-7A96-4173-8CC0-90C98B31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Le attività quotidiane guidano la struttura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920D0-E5A0-4A1C-9D6F-965B965D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Tre situazioni frequenti determinano l’ordine delle informazioni e delle azioni.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B366-4244-47AE-BDF3-EA87BB0B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54591-B4BE-4F4A-8D76-71367FC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E5AF3-DA3C-4EC2-983F-062479C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4705A-F70A-465C-A774-C7378B5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E35EC-938E-4227-845A-1EDA9158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1A88-F56A-48A6-8BC7-45C966B6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3CF1F-57BE-4CED-B687-61DD4CCD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336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Aprire l’app al mattino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A55CE-234A-48F4-B00F-616C7576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145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Capire se oggi c’è qualcosa da fare; vedere il prossimo promemoria.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A89B2-00A7-46D6-BDA4-5728C97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Riepilogo “Oggi” + prossima 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6F642-C2B3-4016-9E42-AD739C7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8F469-DF7F-4719-A085-FC45000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43F57-19D7-4CD1-BBC2-E466AC11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7BE52-758E-4B7B-A255-7FFD88DF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Essere in farmacia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795AE-1885-407E-B279-12DE405F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71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Controllare quantità rimasta, autonomia e data stimata di esaurimento.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589A9-17F7-4F6C-9660-8251EC6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49A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49A2B"/>
                </a:solidFill>
                <a:latin typeface="Arial"/>
                <a:ea typeface="Arial"/>
                <a:cs typeface="Arial"/>
              </a:rPr>
              <a:t>Scheda terapia + dettaglio scorta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81635-3464-4926-8C53-C5DE6C6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C4E5A-A4C4-444E-8CBD-632E86F1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0C66D-7DA9-4ABA-90FA-0A804BA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B9029-BBBF-401C-9BAB-1BFFE41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Ricevere una confezione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0FAED-6C65-47E3-8B9F-396E0B5B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291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Aggiungere la quantità ricevuta e sincronizzare la modifica.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14B78-D351-4030-8848-1AB596EB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96B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6B8C"/>
                </a:solidFill>
                <a:latin typeface="Arial"/>
                <a:ea typeface="Arial"/>
                <a:cs typeface="Arial"/>
              </a:rPr>
              <a:t>Azione rapida “Registra confezione”</a:t>
            </a:r>
          </a:p>
        </p:txBody>
      </p:sp>
    </p:spTree>
    <p:extLst>
      <p:ext uri="{BB962C8B-B14F-4D97-AF65-F5344CB8AC3E}">
        <p14:creationId xmlns:p14="http://schemas.microsoft.com/office/powerpoint/2010/main" val="824631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9949A-180C-4B92-B4C3-DB791BAF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03 · PRINCIPI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04C0E-0031-4C12-B5B7-F75684D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Quattro principi tengono l’esperienza leggibile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3EBEA-13E9-4C95-AB93-752B506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ED021-A7E4-47FD-90E9-1FA81AA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C5272-37E9-4508-B82F-95483570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89D58-A397-4CA9-A31E-60CE51B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34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DAD75-1F14-4D48-9835-F6D40F9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6675" cy="1600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8F87A-79AA-4231-A6A5-8BCE9AB3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Prima le eccezioni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68534-9284-46AA-89F9-1917A25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Le scorte critiche e gli eventi di oggi emergono; le terapie regolari restano consultabili.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D35C3-CCE7-4C58-B840-7E10E75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5334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D98E-C07A-4AAC-AD29-071ABDD3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66675" cy="1600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89175-73D6-4D50-AC4B-95C058A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Una sola gerarchia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7A006-3A38-4370-B1AB-24E55DED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Titoli, stati e azioni mantengono posizione e significato in tutte le schermate.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AF42E-1F1B-4D0E-97DB-C6E7D07A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334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AD47E-3491-4445-ADA0-CC57756D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6675" cy="1600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57F46-DE21-4679-84D9-9537B2FE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Stato sempre esplicito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BC21E-C75A-48BE-A42F-C7E0A1E8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Ultima sincronizzazione e lavoro in sospeso si leggono senza aprire le impostazioni.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7C10B-B78A-4320-945D-BC1C5D4D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57625"/>
            <a:ext cx="5334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B8A4F-4483-46AB-9E3F-BDC3EA9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57625"/>
            <a:ext cx="66675" cy="1600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44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1F763-224B-4B01-9CDB-E84F8D0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Tono neutro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A0764-1BA9-4BDE-A467-14418F99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Quantità, date e promemoria descrivono i dati registrati, senza giudizi di aderenza.</a:t>
            </a:r>
          </a:p>
        </p:txBody>
      </p:sp>
    </p:spTree>
    <p:extLst>
      <p:ext uri="{BB962C8B-B14F-4D97-AF65-F5344CB8AC3E}">
        <p14:creationId xmlns:p14="http://schemas.microsoft.com/office/powerpoint/2010/main" val="2120132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9E258-A2B8-4595-B2FD-154EC4F4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04 · PROPOSTA VISIVA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7035A-5B66-4C06-9133-F3431FB8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Direzione scelta: panoramica della giornata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C968E-E4DB-4D9F-B220-D8C7412A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La schermata iniziale separa promemoria ordinari da elementi che richiedono attenzione.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E79AB-7CF9-42A6-A43B-9898863B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5A2A1-1087-405E-9CFB-45C21178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843A5-2C10-4054-97F3-AD436EB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55a5e4b1e45aa">
            <a:extLst>
              <a:ext uri="{96DAC541-7B7A-43D3-8B79-37D633B846F1}">
                <asvg:svgBlip xmlns:asvg="http://schemas.microsoft.com/office/drawing/2016/SVG/main" r:embed="R0e60ba26492e4a66"/>
              </a:ext>
            </a:extLst>
          </a:blip>
          <a:srcRect xmlns:a="http://schemas.openxmlformats.org/drawingml/2006/main" l="0" t="17000" r="0" b="6000"/>
          <a:stretch xmlns:a="http://schemas.openxmlformats.org/drawingml/2006/main"/>
        </p:blipFill>
        <p:spPr>
          <a:xfrm xmlns:a="http://schemas.openxmlformats.org/drawingml/2006/main">
            <a:off x="666750" y="1562100"/>
            <a:ext cx="10810875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03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F9BF5-735F-4F88-B8A4-C05434C0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05 · ARCHITETTURA INFORMATIVA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D2831-BB81-4B1A-A74C-435F265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Navigazione principale: quattro destinazioni stabili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7A837-D209-499B-8460-D2B8F4E9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La schermata iniziale aiuta a scegliere la destinazione, non sostituisce le sezioni operative.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F87E3-C519-4459-8727-6B4BA4A9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D0B5-8B98-4E56-91EE-D6DDB2B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6D60-0D77-4DAC-A2C1-B89D5250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6CE98-4BFD-4217-A02F-C286A59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52700" cy="19240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127C1-38BC-4E7A-AC8D-C634C2A3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F6166-F481-40F6-B2C2-C825FDE0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3C03E-DF60-46C0-9D47-18B774A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Oggi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6D411-3331-4DC6-9745-69ED6085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Riepilogo, promemoria, elementi da controllare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C869E-254A-4E41-8518-B0F0136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552700" cy="19240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D4D60-7E68-4E2B-9F9F-353D0548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B5183-E69B-4DDB-BE9A-A7DEE3B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96B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96B8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E2708-5DEE-4519-ADE7-25F73807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Terapie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1CD46-4E7B-4EC3-B672-84F58FDA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38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Elenco, dettaglio, regime, scorte e storico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EA69B-2C82-4493-832E-98204DA6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552700" cy="19240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EC738-BFEE-40F9-9398-DF8AFEF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F6131-FEB1-4A1B-9798-E126BED3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49A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49A2B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19BF8-47CD-4966-8DC2-F4F23A4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66E90-034F-45B1-90F3-68ED8B48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Promemoria pianificati e attività per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C06D8-3A32-4B33-9A4F-9FD2D2AF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552700" cy="1924050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B5C34-8317-4D21-A6DB-38A9BFF5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0EDF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53892-7B91-49F4-A0A4-A998D91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A5D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A5D91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6F5D6-B132-495C-ABD7-2EF4846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Altro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D2C63-8BA1-419B-A35B-A0DF5697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38525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Profili, sincronizzazione, conflitti e impostazioni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A3A6C-B3E3-4DDF-829F-03A40E5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BA7AE-42C5-45D0-BF6B-CF188FCC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Regola: massimo 4 voci in primo livello; ogni schermata secondaria conserva titolo e ritorno chiari.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50C1A-8D38-4330-B7D1-DF9ACB75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Nota di definizione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070A7-8367-4A49-8F3E-0426A77D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673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Agenda è proposta per la navigazione; nel piano mobile la timeline completa e read-only è Phase 7.</a:t>
            </a:r>
          </a:p>
        </p:txBody>
      </p:sp>
    </p:spTree>
    <p:extLst>
      <p:ext uri="{BB962C8B-B14F-4D97-AF65-F5344CB8AC3E}">
        <p14:creationId xmlns:p14="http://schemas.microsoft.com/office/powerpoint/2010/main" val="1129628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9C6FC-AE85-4996-808A-F1E2DEB6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06 · SCHERMATA INIZIALE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864DB-DA67-479E-9325-5A5A2C93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Oggi: priorità, prossimo promemoria, scorte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A6302-43F2-44A3-9DD4-58396AB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Ordine dei blocchi in scorrimento verticale; niente dati indispensabili nascosti in grafici.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F8F3-B34E-4A0F-A4D6-EDB9BB8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1DB58-03EC-4ADB-B625-9DB964A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5A5D9-4089-40A7-ADB6-285D2CA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F4911-DB07-4D61-8BEE-01E8B083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5F20-5BDF-4EB0-8AEC-C492884D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6581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1 · Saluto e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EBBD7-1B55-4107-96BC-7D8EE90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6581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Profilo attivo; data locale; riepilogo sintetico.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E1EBD-75AF-4F44-9226-E1E9CAC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226A-28C8-456C-A0CD-6A5C13AB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6581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2 · Stato giornata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8EC2C-4756-47D5-B6D4-0DB83CA6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6581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Promemoria previsti e numero di elementi da controllare.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06772-88B4-475F-B3A3-7D858C3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EFD36-6B53-4ED0-B952-9A008AF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6581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3 · Prossimo promemoria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FE152-BEFA-4A81-8F31-4B705C64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6581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Orario, nome terapia e descrizione della dose registrata.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18442-EDF6-4439-87DC-00EB674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5B69C-F6BF-4070-891B-58016A3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6581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4 · Da tenere d’occhio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A5FFB-8472-48FB-9117-ADF1742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6581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Terapie ordinate per soglia e autonomia residua.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38D66-3F53-4A8E-95F8-33EBDD0C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ACC82-B9A9-4D15-BCB0-BCE7736F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6581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5 · Accessi rapidi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58D9D-43C8-4CAA-9321-3F84BDB4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95925"/>
            <a:ext cx="6581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Registra confezione, registra assunzione, apri elenco terapie.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343FE-0EB6-4027-8BBF-51521F4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295650" cy="390525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4C72E-8DA5-404C-BEA8-710EF60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050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In una schermata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E23A4-10B8-475C-9AA3-2B831946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43175"/>
            <a:ext cx="2628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CA8E7-36EA-4AC8-839C-C64510A0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03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Nessuna terapia in urgenza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90069-2486-4CE6-B459-36CDE79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Prossimo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AFE39-905B-41B8-915C-171754CF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43275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08:30 · Vitamina 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1E0C0A-53AD-48BB-A058-D6A3452B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290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1 capsula · colazione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B85C1-1801-421A-909E-8D3FBCFC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62413"/>
            <a:ext cx="273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2F67B-CDF3-4A24-BF2C-1C8B4F9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957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Da controllare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914AD-788C-44AE-AD35-7E6892FC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624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Amlodipina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574F0-28D0-41F4-9C9A-0B153D4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15B1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15B15"/>
                </a:solidFill>
                <a:latin typeface="Arial"/>
                <a:ea typeface="Arial"/>
                <a:cs typeface="Arial"/>
              </a:rPr>
              <a:t>Scorta: circa 5 giorni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9F6E0-9728-422D-ABE1-A2EACF49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7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Apri terapia  →</a:t>
            </a:r>
          </a:p>
        </p:txBody>
      </p:sp>
    </p:spTree>
    <p:extLst>
      <p:ext uri="{BB962C8B-B14F-4D97-AF65-F5344CB8AC3E}">
        <p14:creationId xmlns:p14="http://schemas.microsoft.com/office/powerpoint/2010/main" val="968857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7D12F-BF3F-4326-8A9C-9C730536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07 · FLUSSI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8811C-85D4-46DA-AF82-52457337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 flussi principali restano brevi e reversibili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40571-6B07-4ED2-A687-19B015A2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321A2-0ED5-4AD5-BAF2-970C2D2F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3BE53-C71F-4C8A-9820-38265BF9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0A4D5-0AA8-4829-891A-3733653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EC4F1-F07F-4397-954F-00BFAC2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076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05D2-71A1-4E1C-8BCC-068717D2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A · Controllare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1AFA-1918-4EB0-AAD1-D724E7C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43125"/>
            <a:ext cx="798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Oggi → terapia → scorte e data stimata → torna a Oggi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9BD58-1427-497A-B59D-B1252A7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336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Lettura immediata, nessuna modifica implicita.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E919C-C203-4BB4-8956-400FB781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128BF-EDF8-4FA7-A6BF-D81E38B8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076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8D9F8-D441-48C8-848B-F3E5201F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96B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6B8C"/>
                </a:solidFill>
                <a:latin typeface="Arial"/>
                <a:ea typeface="Arial"/>
                <a:cs typeface="Arial"/>
              </a:rPr>
              <a:t>B · Registrare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91F57-3143-426C-B09E-316805BF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05200"/>
            <a:ext cx="798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Oggi → azione → quantità/orario → conferma → 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77F44-43AC-4A3E-9E9A-361A97C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957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Conferma prima di scrivere dati rilevanti.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DA55F-85D4-4BAC-BBD7-6157A918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E69D0-D1F8-42E4-8CC7-9BA1F87E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2076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E00ED-4266-436F-8749-A4170E2F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05A1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A12"/>
                </a:solidFill>
                <a:latin typeface="Arial"/>
                <a:ea typeface="Arial"/>
                <a:cs typeface="Arial"/>
              </a:rPr>
              <a:t>C · Risolvere un conflitto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03368-8A0A-4BCE-9D62-02DD1B86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67275"/>
            <a:ext cx="798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Avviso → campi e origini → confronta → ripristina o chiudi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78905-51E2-4484-A515-6EAB3E3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578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Spiegare l’esito prima dell’azione.</a:t>
            </a:r>
          </a:p>
        </p:txBody>
      </p:sp>
    </p:spTree>
    <p:extLst>
      <p:ext uri="{BB962C8B-B14F-4D97-AF65-F5344CB8AC3E}">
        <p14:creationId xmlns:p14="http://schemas.microsoft.com/office/powerpoint/2010/main" val="622201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7D827-4230-47CA-92A0-702030C6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08 · TERAPIE E SCORTE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D6A12-B9EE-4EA3-94EB-8FE1E2D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Dettaglio terapia: una fonte chiara per le decisioni pratiche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AF781-45ED-49FA-9266-4568043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FA802-58D1-45F1-9473-F5688AA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6033E-CDC9-4AE7-A9CA-3823D8A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BD59D-3A1F-4814-ACA6-E379FD27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14573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909A0-15D0-451C-85BF-4D7D2BF0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6675" cy="14573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4CFD0-599F-4F4B-809D-98E46E1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Identità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BFEED-B4DE-4346-81F0-0F6B96D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Nome, dose registrata, frequenza, date e stato attiva/sospesa.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1A7DB-BB75-44ED-9E86-347FA06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334000" cy="14573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C8EB5-580B-4E6B-991F-55D7B5A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66675" cy="14573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D0B4C-B0BE-4075-BE38-8200745C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Autonomia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552FE-74A5-4E41-9434-2174AEF0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Quantità, consumo previsto, giorni residui, data stimata di esaurimento.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72038-6EBA-4032-9981-1D755AA5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334000" cy="14573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A241F-C5AA-4C91-868E-695CD68E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6675" cy="14573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8AE09-8D94-4099-8B21-7E163BF1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Azioni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4E003-87FC-4F33-89D9-CB29373C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Aggiungi confezione, correggi quantità con motivazione, registra conteggio.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637C9-27EF-4A74-AC78-9B86999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5334000" cy="14573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F9E39-7024-4DF9-9218-8F230AE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66675" cy="145732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8679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8539E-557C-4BD2-9EA1-B249383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Regime complesso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BD49F-57DD-4E3F-8A86-9A53569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Riepilogo leggibile; modifica della schedula e slot con cronologia.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B99EB-48B2-42FD-9990-0B748A8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44678-92EA-409A-AD61-4F0C665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54B1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4B16"/>
                </a:solidFill>
                <a:latin typeface="Arial"/>
                <a:ea typeface="Arial"/>
                <a:cs typeface="Arial"/>
              </a:rPr>
              <a:t>Il colore accompagna lo stato; etichetta e testo riportano sempre il significato.</a:t>
            </a:r>
          </a:p>
        </p:txBody>
      </p:sp>
    </p:spTree>
    <p:extLst>
      <p:ext uri="{BB962C8B-B14F-4D97-AF65-F5344CB8AC3E}">
        <p14:creationId xmlns:p14="http://schemas.microsoft.com/office/powerpoint/2010/main" val="411974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A0D71-AFFE-45DF-8B9D-9E508BE7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09 · PERIMETRO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5EB69-1EAB-4801-B0A7-AE104F7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Schermate previste e sequenza di rilascio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F8714-655D-4510-B12D-600EE78C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7F29A-7DE1-4B56-81C3-8F55BB0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4F898-F4BA-49CA-B4A3-6C1D5103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18821-D93C-4D6E-AB4F-58F3BEB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148590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FE9DE-9FD6-4C5A-B44B-2A574BDD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7D8B0-A5C4-4B07-94AE-F66FCFCC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FASE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3FEDF-1CED-4A2F-AEC8-FAFAE094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28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Phase 5 · Android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55FA3-A21D-4891-8429-CE1C86E2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Onboarding e pairing · elenco e dettaglio terapie · stock e conteggio · intake · conflitti · profili e dispositivi · impostazioni · notifiche locali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14FFF-19FB-44B6-B2AF-E27CA5CE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148590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F0DC0-8DD9-4EA2-B058-43396623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FB5EA-4FAE-4BF1-9F61-0520CBB1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96B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6B8C"/>
                </a:solidFill>
                <a:latin typeface="Arial"/>
                <a:ea typeface="Arial"/>
                <a:cs typeface="Arial"/>
              </a:rPr>
              <a:t>FASE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B1C22-F48E-4A4E-91A0-E01815A3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Phase 7 · completamento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7E87F-5D64-4D62-A029-9AB53D0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Timeline · bozza richiesta ricetta · catalogo e barcode camera · invio e-mail dal device designato · export .mrz · condivisione PDF e state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B3114-7E24-45A4-ABAF-792BC20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Priorità proposta per il primo uso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99113-F4A7-4B16-954D-CD669914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340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Avvio → pairing → conferma profilo → stato sync → Oggi</a:t>
            </a:r>
          </a:p>
        </p:txBody>
      </p:sp>
    </p:spTree>
    <p:extLst>
      <p:ext uri="{BB962C8B-B14F-4D97-AF65-F5344CB8AC3E}">
        <p14:creationId xmlns:p14="http://schemas.microsoft.com/office/powerpoint/2010/main" val="1767431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F82A2-1452-431B-BC26-F4372194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10 · SYNC E RESILIENZA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D5306-C5FA-4E6B-94D6-DACFA99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Offline-first: l’app resta utilizzabile anche senza 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3FB8-31E7-41DE-84CC-9B4A132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Stato dati e stato remoto sono due informazioni distinte.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D22B8-2E0B-4FD1-94AD-80370F5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04ACC-084F-42B8-B1A8-3630DB3C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0ADFA-9990-462D-98B6-10B9E55A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FBFC8-481E-4DC7-B1EE-FBB282B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169A4-0FBE-4401-99DB-5EB6E52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Aggiornato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CB991-6EB8-44C6-ABB8-6F3DCACD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3832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Ultima sync riuscita; azioni salvate localmente.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B0893-691F-4EA3-92B2-748F1A03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777E7-33C0-4B4F-8263-BAE0376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96B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96B8C"/>
                </a:solidFill>
                <a:latin typeface="Arial"/>
                <a:ea typeface="Arial"/>
                <a:cs typeface="Arial"/>
              </a:rPr>
              <a:t>In attesa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EC9E5-AEEE-47DA-9529-D7B4730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3367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Modifiche locali in coda; nessuna promessa di invio immediato.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CAE1F-5C11-4E0B-A270-CE8C2695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E066F-F66A-457D-AB67-18990AED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625B"/>
                </a:solidFill>
                <a:latin typeface="Arial"/>
                <a:ea typeface="Arial"/>
                <a:cs typeface="Arial"/>
              </a:rPr>
              <a:t>Offline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69A6A-2221-44A1-B7A0-9F993F9D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2902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Dati disponibili; indica quando la sync verrà ritentata.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6F6A7-8D93-4E57-9910-5936F484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0A3D4-3040-4626-93B2-C7B1424B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05A1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A12"/>
                </a:solidFill>
                <a:latin typeface="Arial"/>
                <a:ea typeface="Arial"/>
                <a:cs typeface="Arial"/>
              </a:rPr>
              <a:t>Richiede attenzione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F4632-D9F7-4381-88D1-876499E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52437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Conflitto, autenticazione scaduta o versione non compatibile.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95D3F-BAC7-4F9C-A82C-FB98F18C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2352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B20B0-7295-4B05-BA0E-2102EE69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Regola di copy: “salvato sul dispositivo” e “sincronizzato” non sono sinonimi.</a:t>
            </a:r>
          </a:p>
        </p:txBody>
      </p:sp>
    </p:spTree>
    <p:extLst>
      <p:ext uri="{BB962C8B-B14F-4D97-AF65-F5344CB8AC3E}">
        <p14:creationId xmlns:p14="http://schemas.microsoft.com/office/powerpoint/2010/main" val="2022804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956C6-6FE5-44C8-944F-D8317C5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11 · PROMEMORIA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1D60-064A-4CE7-A078-60338CC5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Le notifiche richiedono consenso e mostrano un’alternativa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5045D-46BF-466C-8C26-9819B13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B516B-270C-48BF-B915-77297FCD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79935-40C5-4B50-894C-7C729C8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A9BCC-8F9A-4008-B011-37F7D468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95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BBCD-0CD4-4826-B6B4-88BE27E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66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26627-ACF5-46F2-A85B-F52FECA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621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Pianificata solo per finestre attive e slot non registrati.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939B1-F781-4FB3-BEBA-0E0A188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33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3C89D-25DA-4383-9A14-50F1D19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05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Scorta bassa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0B070-E761-489B-A187-38B45A1A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003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Basata sulla previsione e sulla soglia impostata nel profilo.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B4BCF-2D68-41DF-A091-133F1B79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71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6B463-C74A-4707-8D2D-E633C90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43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Permessi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B3AE5-6553-4090-B973-3AA8EF7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385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Spiega cosa abilita prima della richiesta di Android.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1824F-18AC-4ED9-8B64-C490A29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00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289D5-BDBE-4227-ABFE-46EA8ED3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Allarme esatto negato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85CA5-1645-49E9-8567-7F0541D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767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Dichiara che l’orario può essere approssimato; permette di proseguire.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41C10-1A54-42E8-B7D8-DDB38A0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76425"/>
            <a:ext cx="3181350" cy="3714750"/>
          </a:xfrm>
          <a:prstGeom xmlns:a="http://schemas.openxmlformats.org/drawingml/2006/main" prst="roundRect">
            <a:avLst>
              <a:gd name="adj" fmla="val 59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5290C-0F4B-478D-9656-09E394B1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240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Decisione da confermare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5B8D2-CDE5-4EA2-9BC2-AC0439BE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0985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Comportamento suggerito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02EB3-C7BC-4C4A-8CA1-67A4C9A8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95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Promemoria dose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predefiniti sul telefono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A3318-13B0-4B69-BB53-85466E0C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67113"/>
            <a:ext cx="2676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856F4-84F6-4686-8CDA-0F66E8F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5285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Avvisi scorta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323F5-FBBA-40B8-93A9-8F712D5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19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Su ogni dispositivo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che l’utente abilita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60A4C-6816-40FF-8A2D-24274835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953000"/>
            <a:ext cx="1571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C55CD-3D4E-4B9F-A3E3-9327FE7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101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05A1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A12"/>
                </a:solidFill>
                <a:latin typeface="Arial"/>
                <a:ea typeface="Arial"/>
                <a:cs typeface="Arial"/>
              </a:rPr>
              <a:t>D4 · aperta</a:t>
            </a:r>
          </a:p>
        </p:txBody>
      </p:sp>
    </p:spTree>
    <p:extLst>
      <p:ext uri="{BB962C8B-B14F-4D97-AF65-F5344CB8AC3E}">
        <p14:creationId xmlns:p14="http://schemas.microsoft.com/office/powerpoint/2010/main" val="466524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CB635-0178-4DB7-82FE-60B1F8B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12 · ACCESSIBILITÀ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80683-2FE8-458C-81F8-83FB92BC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Accessibilità: il significato non dipende dalla vista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68F60-C14E-4DF1-B01D-871B6287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DF20F-69EA-4AB9-8C1D-1C7FCE12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2E753-9A9B-4319-9F4D-92288648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05AA7-0C33-4A0C-8E0F-EBCD6C4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89C6C-38FD-43BF-B54E-89993B29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Ridimensionamento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0366F-D24C-4FD2-9FDA-CD5E54E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81175"/>
            <a:ext cx="764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La UI rispetta font scale e impostazioni display Android; niente testo essenziale tagliato.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1EC45-F57E-4B2D-9AFF-8A8322CB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458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5B58A-94D4-4B55-8F9F-43F5683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B7E05-A8D1-444F-BF74-2A2E2B2E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Screen reader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EE8E-5271-4262-B418-97B76A91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09850"/>
            <a:ext cx="764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Ogni controllo ha nome, ruolo, stato e ordine di lettura; le icone decorative sono escluse.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18C96-E85D-4356-9628-07FC9FA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43263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F4D88-57CC-4A32-A187-E934AE63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5BA4D-D92E-4046-A283-6D410A6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38525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Colore e contrasto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45E1B-0AAF-4999-879B-CCB3994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764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Stato espresso anche in testo/icona; contrasto verificato per testo e componenti.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7CF3D-8BA1-4482-932D-A5B65442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193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EDF89-E5F9-403F-87B7-71F270B8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218F6-0471-4074-A80D-62FBDCB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Touch e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5A6CC-DB1C-417D-8D74-CFD37A9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67200"/>
            <a:ext cx="764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Bersagli comodi; ordine focus logico; azioni raggiungibili con tecnologie assistive.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F560C-BC3D-46EF-B426-F6B5DCA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00613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51211-19ED-4AA2-B83B-17333B3F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3EFB2-B3D4-4E56-95EA-DEBB74B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Moto ridotto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C40BF-3D13-4E37-ABA1-867F0BBB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095875"/>
            <a:ext cx="764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Le animazioni non sono necessarie per capire uno stato o completare un’azione.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40830-5D48-413B-8538-0A291B2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2928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776671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CDA4B-814E-44EE-8555-45EC079A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13 · STATI E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6C2AA-7AFB-4ED8-A906-FE76F7E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Gli stati vuoti e gli errori fanno parte del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7850F-352D-4F94-8C40-05873339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EB697-2754-4B79-A102-B532E6D0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DA177-80CE-41BF-8D53-CB32A02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FF25B-95C1-4C0A-A9AA-9FCA2F2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C8720-CE99-4FC0-A353-F862D3BB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647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E4BDB-87F2-47D6-9B47-FC86A29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Nessuna terapia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2134F-9BE7-406E-9919-C29E01A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Spiega come aggiungerne una e mostra l’azione.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4018E-98AB-4EF3-866F-3CB4E09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75B7E-FDE6-420A-84CE-9E708598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6675" cy="647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39404-0B30-440B-AE8C-6AEC068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Sync mai configurata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4EA4F-A729-43B9-BC1B-5183BD85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908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Mostra che i dati sono locali; propone pairing senza bloccare l’uso.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AC3A9-E3ED-40C8-9AE1-84F1D49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F3403-5DAF-4275-810D-2CE0D542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66675" cy="647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D65A0-BDAC-4D51-94F3-AF21AA30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Permesso negato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E2466-6123-4594-8DE9-751D7688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290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Indica l’effetto sul promemoria e come riaprire le impostazioni Android.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537F2-74D6-4BF9-9A07-80802AA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81BF4-00F6-4FB8-BAF6-82D5DCAA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66675" cy="647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44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B7DA4-AB60-485D-A159-72946E2C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Sync in errore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EC878-152D-4E40-845D-29E8C9E1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672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Distingue rete, accesso provider e conflitto; conserva le modifiche locali.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6896C-A21F-47BF-B4D3-9630BF2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647700"/>
          </a:xfrm>
          <a:prstGeom xmlns:a="http://schemas.openxmlformats.org/drawingml/2006/main" prst="roundRect">
            <a:avLst>
              <a:gd name="adj" fmla="val 22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77E58-EF49-4678-B77D-958FE3A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66675" cy="647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8679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CF3DE-6250-48DC-AD76-20CA5025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Dato non disponibile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C314A-5CB3-4159-99A7-5C67E4D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054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Non inventa una previsione; spiega quale informazione manca.</a:t>
            </a:r>
          </a:p>
        </p:txBody>
      </p:sp>
    </p:spTree>
    <p:extLst>
      <p:ext uri="{BB962C8B-B14F-4D97-AF65-F5344CB8AC3E}">
        <p14:creationId xmlns:p14="http://schemas.microsoft.com/office/powerpoint/2010/main" val="8835425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46B32-5C28-4659-9032-8414A2D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14 · REQUISITI IMPLEMENTATIVI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6E5ED-7D6C-4616-AD58-8B6F079E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Requisiti funzionali per il primo rilascio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09EBF-EC09-4381-AD83-5C09707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ID e criteri verificabili per trasformare la proposta in backlog.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E5E55-7C2E-4589-A495-D8224F7F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D61BF-0604-4BAD-9F69-6EA42CF6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AB38A-4E84-4BCB-B49A-068BEA04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52E1C-50D0-4D90-9906-453418D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9144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CB66D-9637-4B48-A6EF-72B46BEE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809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3CE33-02BC-429A-AB91-91DA413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28825"/>
            <a:ext cx="581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UI-01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A9174-6ABA-4786-B861-2CB7C1F6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43100"/>
            <a:ext cx="928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All’avvio, mostra profilo attivo, riepilogo del giorno, prossimo promemoria ed elementi da controllare.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D7434-3017-4403-BA9A-6EC8F640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95525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Accettazione: Con profilo vuoto / senza promemoria il layout resta esplicito e utilizzabile.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918CE-2BFA-4E1E-BAF9-CCEFF135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9144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99604-53CF-4049-BA47-644088C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809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BF298-2B50-4205-BE1A-00060E0E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581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UI-02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D710D-9AB3-45E1-8A9E-9D4CB05B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928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Permette di consultare terapie e aprire il dettaglio con dose, regime, scorta, giorni residui e data stimata.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3413A-CAFB-457B-9658-54CA14A9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81375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Accettazione: Ogni stato ha testo; nessun significato è affidato solo al colore.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93ADD-B686-4658-AE25-B36D797F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72800" cy="9144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06E41-F103-4873-90EE-AA9C5CB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809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FB066-68E0-4441-B9CF-F618240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581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UI-03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1E2BB-6BCF-4A40-A4BE-F32ACE87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14800"/>
            <a:ext cx="928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Permette di registrare intake, confezione, correzione e conteggio tramite i casi d’uso dell’Application.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0BDBE-5755-4324-BF2A-E67E356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67225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Accettazione: Mostra riepilogo dei dati e conferma l’esito; niente scrittura diretta dal layer UI.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58A5-5006-43B7-8605-9F5956A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9144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DD6E7-84CA-46BA-8B8A-60B930F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809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C0258-C9E0-480D-98E7-0BFC6A4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581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UI-04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EC9C0-02EC-46EE-BA81-AB3A6B9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00650"/>
            <a:ext cx="928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Mostra stato e ultimo aggiornamento sync su Oggi e nelle impostazioni sync.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82293-3416-4EF4-B036-B6FA612F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3075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Accettazione: Offline e modifiche in coda non sono presentate come sincronizzate.</a:t>
            </a:r>
          </a:p>
        </p:txBody>
      </p:sp>
    </p:spTree>
    <p:extLst>
      <p:ext uri="{BB962C8B-B14F-4D97-AF65-F5344CB8AC3E}">
        <p14:creationId xmlns:p14="http://schemas.microsoft.com/office/powerpoint/2010/main" val="7528718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FAEA57-5A24-4A37-84B6-DED9790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15 · REQUISITI IMPLEMENTATIVI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EC878-99E4-4CF9-8187-2F845BAC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Requisiti non funzionali e d’integrazione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0D050-5CCE-4E15-AFB7-EACEACD4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B9F00-19F9-4788-89D9-B2E6FA22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B008A-2AFE-4469-A814-B4F3A0F7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EEA76-E59D-4496-988B-E7AA2B1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3340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EEE5A-9018-4391-99BD-D79E794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44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01690-8DD8-4088-BC81-55BD3DDE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NFR-01 · Privacy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9678B-38B9-4E8D-B53E-13DCE4B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Nessun dato salute nei log; nessun analytics/crash SDK; database nel sandbox; esclusione da Android backup.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B6269-7F87-419E-8781-96AB9943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3340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E8F1A-3AC2-4286-B905-DD98B762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D68AC-E70E-4E25-83CA-A63BF12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NFR-02 · Lingue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5237B-37C4-45D2-9E48-032E1975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Italiano, inglese, francese, spagnolo e tedesco; nuove chiavi in tutte le risorse localizzate nello stesso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379F1-B62E-423B-865F-10EF6E09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3340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6366A-1E6E-49A9-8CB2-E61B5BC2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7FE07-579B-4DC0-A902-F07BEF2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NFR-03 · Persistenza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6B7EB-A97C-4E95-9B9A-9E2E07D5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Offline-first; operazioni tramite use case condivisi; sync idempotente e nessuna sovrascrittura silenziosa.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BE53E-6FAD-4755-9E26-BC186BA6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71825"/>
            <a:ext cx="53340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7229E-6FDB-4C8E-95E7-84D1F46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71825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A7BD0-B616-416A-9D3E-7F315A9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62325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NFR-04 · Notifiche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64A17-B9E2-4FA5-90D5-AB33518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24275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Pianificazione ricalcolata dopo modifiche, sync, resume, reboot e cambio fuso orario.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99DC9-54FA-49F1-91FB-710C87AB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3340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610C2-FFBA-4FCB-A0C5-8D62C45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443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CF8AD-3141-4D9E-8E7D-C46CC319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NFR-05 · Protezione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2C2F2-7B99-46A8-84F6-07AE00D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App lock; credenziali in secure storage; database e chiavi non inclusi nei backup di sistema.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B278E-2C41-4AEA-9A33-D36EA83C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53340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69AFC-0FE5-45EA-95F0-B94D2A52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8679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87B95-3E0B-4430-A37A-045066A5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NFR-06 · Compatibilità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65A6B-0D0D-48C7-ADF3-A7A416E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Android minimo resta da confermare; proposta tecnica corrente: API 26, non ancora misurata.</a:t>
            </a:r>
          </a:p>
        </p:txBody>
      </p:sp>
    </p:spTree>
    <p:extLst>
      <p:ext uri="{BB962C8B-B14F-4D97-AF65-F5344CB8AC3E}">
        <p14:creationId xmlns:p14="http://schemas.microsoft.com/office/powerpoint/2010/main" val="9924047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471F5-7D0F-4614-BA83-5E98DF9A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16 · ACCETTAZIONE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C4D76-4519-4735-91AA-10D93D6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Criteri di completamento della UI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54439-C915-488B-A6C7-F2DDE80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FCB06-CA85-4D27-A99A-31A57B7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B0330-ED09-4996-8436-781D7635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2C7ED-7101-417E-8A64-6935A26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571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A5520-6ACA-4606-BA1E-3E7B343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FEAEF-7C18-4C68-ABDD-285B25F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81175"/>
            <a:ext cx="1007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L’intero percorso onboarding → pairing → Oggi funziona con rete disponibile e senza rete.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B666D-F4C3-4C44-86D4-DAF5F6CE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571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046B0-30FF-4EDE-AB11-4E83BD52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26F0B-1EED-4B33-B3FA-218ABC0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76500"/>
            <a:ext cx="1007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32D"/>
                </a:solidFill>
                <a:latin typeface="Arial"/>
                <a:ea typeface="Arial"/>
                <a:cs typeface="Arial"/>
              </a:rPr>
              <a:t>Le modifiche offline si conservano e convergono dopo riconnessione nei casi di checklist.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5B0B4-4B90-402C-B79F-8E5CD8EB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571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27517-B473-42CE-A04C-0235CA47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22778-8607-4F60-A11A-B17AE7DD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71825"/>
            <a:ext cx="1007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32D"/>
                </a:solidFill>
                <a:latin typeface="Arial"/>
                <a:ea typeface="Arial"/>
                <a:cs typeface="Arial"/>
              </a:rPr>
              <a:t>Screen reader, font scaling, lingua, permesso notifiche negato e modalità batteria ridotta sono verificati su dispositivi reali.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DE3DF-FFE6-4651-BC0C-9D3249AF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571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E08CA-6BF9-44A5-9907-0B5A62E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F1E68-1BE9-48A7-B97A-F42A3493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67150"/>
            <a:ext cx="1007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32D"/>
                </a:solidFill>
                <a:latin typeface="Arial"/>
                <a:ea typeface="Arial"/>
                <a:cs typeface="Arial"/>
              </a:rPr>
              <a:t>Android 14+ e una versione Android più vecchia dentro il minimo supportato completano la checklist manuale.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D8E03-A180-42A5-BE6A-7711AAC7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571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C6638-B5CE-4950-BB74-BBFD191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CB832-8D30-47B1-9FAF-7ACC6509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62475"/>
            <a:ext cx="1007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32D"/>
                </a:solidFill>
                <a:latin typeface="Arial"/>
                <a:ea typeface="Arial"/>
                <a:cs typeface="Arial"/>
              </a:rPr>
              <a:t>Una build release non contiene dati sanitari nei log; database escluso dai backup; signing fuori dal repository.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205F4-DAAE-4C49-AA5D-0D2AB04F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571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F1BFD-7616-4515-8A71-068DE06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95CF5-B081-4F26-A095-E6F9EE60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57800"/>
            <a:ext cx="10077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32D"/>
                </a:solidFill>
                <a:latin typeface="Arial"/>
                <a:ea typeface="Arial"/>
                <a:cs typeface="Arial"/>
              </a:rPr>
              <a:t>La lista requisiti e i gap Phase 7 sono aggiornati nelle guide e nella tabella di parity.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7B9FC-FA00-4B91-8A2C-671E1F0E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F6161-C092-4E52-AA65-6F58FBF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96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6B8C"/>
                </a:solidFill>
                <a:latin typeface="Arial"/>
                <a:ea typeface="Arial"/>
                <a:cs typeface="Arial"/>
              </a:rPr>
              <a:t>Gate M2: Google Drive first, then OneDrive; both Android OAuth flows pass their provider checks.</a:t>
            </a:r>
          </a:p>
        </p:txBody>
      </p:sp>
    </p:spTree>
    <p:extLst>
      <p:ext uri="{BB962C8B-B14F-4D97-AF65-F5344CB8AC3E}">
        <p14:creationId xmlns:p14="http://schemas.microsoft.com/office/powerpoint/2010/main" val="10911201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FECD2-FA69-40EE-9F28-FCA1BF0C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17 · DIPENDENZE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B8B83-C989-4F69-A717-C849BDE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Decisioni da chiudere prima dell’implementazione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2D9B0-4B7D-4239-ACFB-AE25365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50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526CC-78E0-41DE-AEA4-45DD5594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27C"/>
                </a:solidFill>
                <a:latin typeface="Arial"/>
                <a:ea typeface="Arial"/>
                <a:cs typeface="Arial"/>
              </a:rPr>
              <a:t>Proposta di esperienza · requisiti per implementazione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04FFD-7C07-4749-AAC2-E575AE70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85CE5-9CC4-453D-8EE6-9595CF3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239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B19A1-2B24-48E6-8434-FF3C86EB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C76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59009-8E7E-44B0-B53D-BAE499D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Confermate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7580C-504C-428D-9409-87C0EC1A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678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Android prima di iOS · .NET MAUI · Google Drive prima · poi OneDrive · sync end-to-end cifrata · niente backend · iCloud escluso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56A39-EC28-4CDF-AB62-BEC5DA99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7239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C6AA7-CE60-418B-A701-D07294C2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9A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A9D55-8661-4D1C-AEF5-5C0A931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Da approvare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BE46E-5A5E-48B2-86A1-E1D3DF2E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678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D4: default notifiche per dispositivo. D13: versione minima Android proposta API 26. D11: eventuale eccezione ai release artifacts in base all’evidenza spike.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30AE7-1FA6-40F9-B750-ED8D2D33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239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2EC9A-AB67-4EAA-A287-C9888C0E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96B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AD6A3-071D-42FF-B912-4B51688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Fuori dal primo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B614A-183C-4314-A0D2-520AE22B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678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Timeline completa, richiesta ricetta, catalogo, barcode camera, e-mail, export/import mobile: Phase 7 nel piano attuale.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38EAC-C426-4FCF-97E2-25B4179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38325"/>
            <a:ext cx="3333750" cy="373380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12352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72606-F169-4543-B424-8677DDB8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050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Percorso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401DF-150B-4F7B-82BF-9334AD89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03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DE0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C7899-FFD3-42E9-A30D-DBF64D5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2D6B7-1C4A-49FF-AADA-190FB5C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UI e flussi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CD6FF-3D35-4440-8A50-BB961A2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8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A8945-36CF-45CA-A45A-3D3054CE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337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5A4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701B9-F952-4831-B6F4-6142889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37E52-58E2-410D-ABBF-709B373C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Backlog e stime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A3E5A-93D7-4DA6-A27F-999D5CE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75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8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91FABD-08F7-419C-BDB3-CAD7718F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671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5A4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26C32-2842-4DF1-A66C-B24A9D9C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FBD8-EB57-4182-859C-938A6FDA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Implementazione MAUI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8D873-132A-4D00-8BDC-5AC61B5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909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8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CE41C-72D3-480F-8BB1-10D156A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5A4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FB40C-4BC8-436B-BFE1-F92CE147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F449-4B9D-460E-9C8A-E66092C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 su dispositivi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69DB91-BA83-41FB-A3B6-E80F20D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243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B8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BBB607-E4F5-42FD-BE99-F23FB6F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339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5A4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83287C-F32F-441C-9485-A14B98B2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F31FF-F374-449B-9689-ACCA0DB5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815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Distribuzione interna</a:t>
            </a:r>
          </a:p>
        </p:txBody>
      </p:sp>
    </p:spTree>
    <p:extLst>
      <p:ext uri="{BB962C8B-B14F-4D97-AF65-F5344CB8AC3E}">
        <p14:creationId xmlns:p14="http://schemas.microsoft.com/office/powerpoint/2010/main" val="11918534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35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C40FB-A67F-44A9-9938-2D7CDC64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6D0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D0BE"/>
                </a:solidFill>
                <a:latin typeface="Arial"/>
                <a:ea typeface="Arial"/>
                <a:cs typeface="Arial"/>
              </a:rPr>
              <a:t>DEFINIZIONE UX · ANDROID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646DB-125E-40A6-AC91-58F45617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09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direzione è pronta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diventare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BE00E-1640-4F47-A218-3341ECC8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C6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C6B5"/>
                </a:solidFill>
                <a:latin typeface="Arial"/>
                <a:ea typeface="Arial"/>
                <a:cs typeface="Arial"/>
              </a:rPr>
              <a:t>Decisione di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3AB85-CF54-43AE-BED2-20C687F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6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Panoramica come home; Terapie e Agenda sempre raggiungibili.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1E6C4-3C7D-4BB1-B4AA-97CF39AD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C6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C6B5"/>
                </a:solidFill>
                <a:latin typeface="Arial"/>
                <a:ea typeface="Arial"/>
                <a:cs typeface="Arial"/>
              </a:rPr>
              <a:t>Consegna per il passo successivo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1608C-BCC8-49D9-BF19-04E8F32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1EE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1EEE8"/>
                </a:solidFill>
                <a:latin typeface="Arial"/>
                <a:ea typeface="Arial"/>
                <a:cs typeface="Arial"/>
              </a:rPr>
              <a:t>Requisiti numerati · criteri di accettazione · fasi già previste · decisioni aperte evidenziate.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FB639-6290-4234-9597-0F67D96E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316230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A1A87-9490-4BA1-BC6E-8D7BFCB1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6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C7660"/>
                </a:solidFill>
                <a:latin typeface="Arial"/>
                <a:ea typeface="Arial"/>
                <a:cs typeface="Arial"/>
              </a:rPr>
              <a:t>UI-01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2FE5D-23EE-42F8-9D41-29614CD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24479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3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32D"/>
                </a:solidFill>
                <a:latin typeface="Arial"/>
                <a:ea typeface="Arial"/>
                <a:cs typeface="Arial"/>
              </a:rPr>
              <a:t>Il riepilogo del giorno mette in evidenza il prossimo promemoria e gli elementi da controllare.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DFFA5-316E-4100-8C6E-52AF81D3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24313"/>
            <a:ext cx="245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3F114-8B04-4DE1-9AD9-6D80210F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9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382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827C"/>
                </a:solidFill>
                <a:latin typeface="Arial"/>
                <a:ea typeface="Arial"/>
                <a:cs typeface="Arial"/>
              </a:rPr>
              <a:t>Accettazione osservabile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F18D8-86D6-470A-BDBA-D0ADD18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62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625B"/>
                </a:solidFill>
                <a:latin typeface="Arial"/>
                <a:ea typeface="Arial"/>
                <a:cs typeface="Arial"/>
              </a:rPr>
              <a:t>Nessun dato essenziale dipende dal solo colore.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2F220-9F88-4158-A1CE-F5245D2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CE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CEC4"/>
                </a:solidFill>
                <a:latin typeface="Arial"/>
                <a:ea typeface="Arial"/>
                <a:cs typeface="Arial"/>
              </a:rPr>
              <a:t>Documento di lavoro · Ottobre 2026</a:t>
            </a:r>
          </a:p>
        </p:txBody>
      </p:sp>
    </p:spTree>
    <p:extLst>
      <p:ext uri="{BB962C8B-B14F-4D97-AF65-F5344CB8AC3E}">
        <p14:creationId xmlns:p14="http://schemas.microsoft.com/office/powerpoint/2010/main" val="817200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2026-10-08T03:20:35.0790000Z</dcterms:created>
  <dcterms:modified xsi:type="dcterms:W3CDTF">2026-10-08T03:20:35.0790000Z</dcterms:modified>
</coreProperties>
</file>